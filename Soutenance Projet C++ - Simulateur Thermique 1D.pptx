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Inter"/>
      <p:regular r:id="rId20"/>
      <p:bold r:id="rId21"/>
      <p:italic r:id="rId22"/>
      <p:boldItalic r:id="rId23"/>
    </p:embeddedFont>
    <p:embeddedFont>
      <p:font typeface="JetBrains Mono SemiBold"/>
      <p:regular r:id="rId24"/>
      <p:bold r:id="rId25"/>
      <p:italic r:id="rId26"/>
      <p:boldItalic r:id="rId27"/>
    </p:embeddedFont>
    <p:embeddedFont>
      <p:font typeface="JetBrains Mono Medium"/>
      <p:regular r:id="rId28"/>
      <p:bold r:id="rId29"/>
      <p:italic r:id="rId30"/>
      <p:boldItalic r:id="rId31"/>
    </p:embeddedFont>
    <p:embeddedFont>
      <p:font typeface="DM Sans"/>
      <p:regular r:id="rId32"/>
      <p:bold r:id="rId33"/>
      <p:italic r:id="rId34"/>
      <p:boldItalic r:id="rId35"/>
    </p:embeddedFont>
    <p:embeddedFont>
      <p:font typeface="JetBrains Mono"/>
      <p:regular r:id="rId36"/>
      <p:bold r:id="rId37"/>
      <p:italic r:id="rId38"/>
      <p:boldItalic r:id="rId39"/>
    </p:embeddedFont>
    <p:embeddedFont>
      <p:font typeface="Space Grotesk"/>
      <p:regular r:id="rId40"/>
      <p:bold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paceGrotesk-regular.fntdata"/><Relationship Id="rId20" Type="http://schemas.openxmlformats.org/officeDocument/2006/relationships/font" Target="fonts/Inter-regular.fntdata"/><Relationship Id="rId41" Type="http://schemas.openxmlformats.org/officeDocument/2006/relationships/font" Target="fonts/SpaceGrotesk-bold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JetBrainsMonoSemiBold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JetBrainsMonoSemiBold-italic.fntdata"/><Relationship Id="rId25" Type="http://schemas.openxmlformats.org/officeDocument/2006/relationships/font" Target="fonts/JetBrainsMonoSemiBold-bold.fntdata"/><Relationship Id="rId28" Type="http://schemas.openxmlformats.org/officeDocument/2006/relationships/font" Target="fonts/JetBrainsMonoMedium-regular.fntdata"/><Relationship Id="rId27" Type="http://schemas.openxmlformats.org/officeDocument/2006/relationships/font" Target="fonts/JetBrainsMono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JetBrainsMono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JetBrainsMonoMedium-boldItalic.fntdata"/><Relationship Id="rId30" Type="http://schemas.openxmlformats.org/officeDocument/2006/relationships/font" Target="fonts/JetBrainsMonoMedium-italic.fntdata"/><Relationship Id="rId11" Type="http://schemas.openxmlformats.org/officeDocument/2006/relationships/slide" Target="slides/slide6.xml"/><Relationship Id="rId33" Type="http://schemas.openxmlformats.org/officeDocument/2006/relationships/font" Target="fonts/DMSans-bold.fntdata"/><Relationship Id="rId10" Type="http://schemas.openxmlformats.org/officeDocument/2006/relationships/slide" Target="slides/slide5.xml"/><Relationship Id="rId32" Type="http://schemas.openxmlformats.org/officeDocument/2006/relationships/font" Target="fonts/DMSans-regular.fntdata"/><Relationship Id="rId13" Type="http://schemas.openxmlformats.org/officeDocument/2006/relationships/slide" Target="slides/slide8.xml"/><Relationship Id="rId35" Type="http://schemas.openxmlformats.org/officeDocument/2006/relationships/font" Target="fonts/DMSans-boldItalic.fntdata"/><Relationship Id="rId12" Type="http://schemas.openxmlformats.org/officeDocument/2006/relationships/slide" Target="slides/slide7.xml"/><Relationship Id="rId34" Type="http://schemas.openxmlformats.org/officeDocument/2006/relationships/font" Target="fonts/DMSans-italic.fntdata"/><Relationship Id="rId15" Type="http://schemas.openxmlformats.org/officeDocument/2006/relationships/slide" Target="slides/slide10.xml"/><Relationship Id="rId37" Type="http://schemas.openxmlformats.org/officeDocument/2006/relationships/font" Target="fonts/JetBrainsMono-bold.fntdata"/><Relationship Id="rId14" Type="http://schemas.openxmlformats.org/officeDocument/2006/relationships/slide" Target="slides/slide9.xml"/><Relationship Id="rId36" Type="http://schemas.openxmlformats.org/officeDocument/2006/relationships/font" Target="fonts/JetBrainsMono-regular.fntdata"/><Relationship Id="rId17" Type="http://schemas.openxmlformats.org/officeDocument/2006/relationships/slide" Target="slides/slide12.xml"/><Relationship Id="rId39" Type="http://schemas.openxmlformats.org/officeDocument/2006/relationships/font" Target="fonts/JetBrainsMono-boldItalic.fntdata"/><Relationship Id="rId16" Type="http://schemas.openxmlformats.org/officeDocument/2006/relationships/slide" Target="slides/slide11.xml"/><Relationship Id="rId38" Type="http://schemas.openxmlformats.org/officeDocument/2006/relationships/font" Target="fonts/JetBrainsMon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h680d4a71d32ddff9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h680d4a71d32ddff9_0_5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h680d4a71d32ddff9_0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h680d4a71d32ddff9_0_6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h680d4a71d32ddff9_0_8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h680d4a71d32ddff9_0_8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h680d4a71d32ddff9_0_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h680d4a71d32ddff9_0_9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h44c2209da395d449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h44c2209da395d449_2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h44c2209da395d449_1_1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h44c2209da395d449_1_1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44c2209da395d449_28_0)">
  <p:cSld name="Generated (h44c2209da395d449_28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6e94f3a04a2a80f_20_0)">
  <p:cSld name="Generated (h6e94f3a04a2a80f_20_0)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/>
          <p:nvPr/>
        </p:nvSpPr>
        <p:spPr>
          <a:xfrm>
            <a:off x="762000" y="4364533"/>
            <a:ext cx="6858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762000" y="1655266"/>
            <a:ext cx="11430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SOUTENANCE D'INFORMATIQUE • ARCHITECTURE &amp; C++</a:t>
            </a:r>
            <a:endParaRPr/>
          </a:p>
        </p:txBody>
      </p:sp>
      <p:sp>
        <p:nvSpPr>
          <p:cNvPr id="88" name="Google Shape;88;p15"/>
          <p:cNvSpPr txBox="1"/>
          <p:nvPr/>
        </p:nvSpPr>
        <p:spPr>
          <a:xfrm>
            <a:off x="762000" y="2045791"/>
            <a:ext cx="9301162" cy="1194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Architecture Orientée Objet d'un Solveur Thermique 1D</a:t>
            </a:r>
            <a:endParaRPr/>
          </a:p>
        </p:txBody>
      </p:sp>
      <p:sp>
        <p:nvSpPr>
          <p:cNvPr id="89" name="Google Shape;89;p15"/>
          <p:cNvSpPr txBox="1"/>
          <p:nvPr/>
        </p:nvSpPr>
        <p:spPr>
          <a:xfrm>
            <a:off x="762000" y="3469183"/>
            <a:ext cx="73342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Conception modulaire, polymorphisme et implémentation numérique du moteur thermique_sim.exe</a:t>
            </a:r>
            <a:endParaRPr/>
          </a:p>
        </p:txBody>
      </p:sp>
      <p:sp>
        <p:nvSpPr>
          <p:cNvPr id="90" name="Google Shape;90;p15"/>
          <p:cNvSpPr txBox="1"/>
          <p:nvPr/>
        </p:nvSpPr>
        <p:spPr>
          <a:xfrm>
            <a:off x="762000" y="4745533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PRÉSENTÉ PAR</a:t>
            </a:r>
            <a:endParaRPr/>
          </a:p>
        </p:txBody>
      </p:sp>
      <p:sp>
        <p:nvSpPr>
          <p:cNvPr id="91" name="Google Shape;91;p15"/>
          <p:cNvSpPr txBox="1"/>
          <p:nvPr/>
        </p:nvSpPr>
        <p:spPr>
          <a:xfrm>
            <a:off x="762000" y="4955083"/>
            <a:ext cx="3810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James Duburcq &amp; Orion Routhier</a:t>
            </a:r>
            <a:endParaRPr/>
          </a:p>
        </p:txBody>
      </p:sp>
      <p:sp>
        <p:nvSpPr>
          <p:cNvPr id="92" name="Google Shape;92;p15"/>
          <p:cNvSpPr txBox="1"/>
          <p:nvPr/>
        </p:nvSpPr>
        <p:spPr>
          <a:xfrm>
            <a:off x="4267200" y="4759821"/>
            <a:ext cx="222646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EXÉCUTABLE CIBLE</a:t>
            </a:r>
            <a:endParaRPr/>
          </a:p>
        </p:txBody>
      </p:sp>
      <p:sp>
        <p:nvSpPr>
          <p:cNvPr id="93" name="Google Shape;93;p15"/>
          <p:cNvSpPr txBox="1"/>
          <p:nvPr/>
        </p:nvSpPr>
        <p:spPr>
          <a:xfrm>
            <a:off x="4267200" y="4969371"/>
            <a:ext cx="222646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thermique_sim.exe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/>
          <p:nvPr/>
        </p:nvSpPr>
        <p:spPr>
          <a:xfrm>
            <a:off x="609600" y="4305300"/>
            <a:ext cx="4191000" cy="581025"/>
          </a:xfrm>
          <a:prstGeom prst="roundRect">
            <a:avLst>
              <a:gd fmla="val 16393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5257800" y="2276475"/>
            <a:ext cx="6324600" cy="971550"/>
          </a:xfrm>
          <a:prstGeom prst="roundRect">
            <a:avLst>
              <a:gd fmla="val 1176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5257800" y="3438525"/>
            <a:ext cx="6324600" cy="971550"/>
          </a:xfrm>
          <a:prstGeom prst="roundRect">
            <a:avLst>
              <a:gd fmla="val 1176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5257800" y="4600575"/>
            <a:ext cx="6324600" cy="971550"/>
          </a:xfrm>
          <a:prstGeom prst="roundRect">
            <a:avLst>
              <a:gd fmla="val 1176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2" name="Google Shape;10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4500" y="2628900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0" y="3790950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24500" y="49530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• CAHIER DES CHARGES LOGICIEL</a:t>
            </a: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Du Modèle Physique au Génie Logiciel</a:t>
            </a:r>
            <a:endParaRPr/>
          </a:p>
        </p:txBody>
      </p:sp>
      <p:sp>
        <p:nvSpPr>
          <p:cNvPr id="107" name="Google Shape;107;p16"/>
          <p:cNvSpPr txBox="1"/>
          <p:nvPr/>
        </p:nvSpPr>
        <p:spPr>
          <a:xfrm>
            <a:off x="609600" y="2962275"/>
            <a:ext cx="52387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Éviter le code procédural monolithique.</a:t>
            </a:r>
            <a:endParaRPr/>
          </a:p>
        </p:txBody>
      </p:sp>
      <p:sp>
        <p:nvSpPr>
          <p:cNvPr id="108" name="Google Shape;108;p16"/>
          <p:cNvSpPr txBox="1"/>
          <p:nvPr/>
        </p:nvSpPr>
        <p:spPr>
          <a:xfrm>
            <a:off x="609600" y="3429000"/>
            <a:ext cx="42862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Notre objectif principal consiste à découpler la géométrie, la physique et les algorithmes de résolution en composants C++ indépendants.</a:t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838200" y="4495800"/>
            <a:ext cx="4667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Principe Ouvert / Fermé (SOLID)</a:t>
            </a:r>
            <a:endParaRPr/>
          </a:p>
        </p:txBody>
      </p:sp>
      <p:sp>
        <p:nvSpPr>
          <p:cNvPr id="110" name="Google Shape;110;p16"/>
          <p:cNvSpPr txBox="1"/>
          <p:nvPr/>
        </p:nvSpPr>
        <p:spPr>
          <a:xfrm>
            <a:off x="6019800" y="2505075"/>
            <a:ext cx="55506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Modularité Stricte</a:t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6019800" y="2790825"/>
            <a:ext cx="5286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Séparation claire entre maillage, matériau et solveurs.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5953125" y="3667125"/>
            <a:ext cx="62388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Polymorphisme d'Exécution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5953125" y="3952875"/>
            <a:ext cx="6238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Classes abstraites pures pour changer de méthode numérique.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5981700" y="4829175"/>
            <a:ext cx="5613201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Performance Mémoire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5981700" y="5114925"/>
            <a:ext cx="534590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Conteneurs standards contigus et complexité linéaire.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• ARCHITECTURE DU PROJET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Graphe des Classes et Contrats Abstraits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/>
          <p:nvPr/>
        </p:nvSpPr>
        <p:spPr>
          <a:xfrm>
            <a:off x="762000" y="2128837"/>
            <a:ext cx="609600" cy="571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762000" y="2414587"/>
            <a:ext cx="11430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770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PARTIE 2 • CONCEPTION ORIENTÉE OBJET</a:t>
            </a:r>
            <a:endParaRPr/>
          </a:p>
        </p:txBody>
      </p:sp>
      <p:sp>
        <p:nvSpPr>
          <p:cNvPr id="129" name="Google Shape;129;p18"/>
          <p:cNvSpPr txBox="1"/>
          <p:nvPr/>
        </p:nvSpPr>
        <p:spPr>
          <a:xfrm>
            <a:off x="762000" y="2728912"/>
            <a:ext cx="8301037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Polymorphisme &amp; Contrats Numériques</a:t>
            </a:r>
            <a:endParaRPr/>
          </a:p>
        </p:txBody>
      </p:sp>
      <p:sp>
        <p:nvSpPr>
          <p:cNvPr id="130" name="Google Shape;130;p18"/>
          <p:cNvSpPr txBox="1"/>
          <p:nvPr/>
        </p:nvSpPr>
        <p:spPr>
          <a:xfrm>
            <a:off x="762000" y="4176712"/>
            <a:ext cx="65722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Isoler les conditions aux limites et les schémas de discrétisation derrière des interfaces virtuelles pures.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/>
          <p:nvPr/>
        </p:nvSpPr>
        <p:spPr>
          <a:xfrm>
            <a:off x="609600" y="1524000"/>
            <a:ext cx="5524500" cy="4762500"/>
          </a:xfrm>
          <a:prstGeom prst="roundRect">
            <a:avLst>
              <a:gd fmla="val 2400" name="adj"/>
            </a:avLst>
          </a:prstGeom>
          <a:solidFill>
            <a:srgbClr val="0F172A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9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• POLYMORPHISME DES BORDS</a:t>
            </a:r>
            <a:endParaRPr b="0" sz="1050">
              <a:solidFill>
                <a:srgbClr val="0284C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609600" y="704850"/>
            <a:ext cx="11582400" cy="41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Hiérarchie BoundaryCondition : Dirichlet &amp; Neumann</a:t>
            </a:r>
            <a:endParaRPr b="1" sz="270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876300" y="1752600"/>
            <a:ext cx="49911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BoundaryCondition.hpp, DirichletDC.hpp &amp; NeumannDC.hpp</a:t>
            </a:r>
            <a:endParaRPr b="1" sz="1100">
              <a:solidFill>
                <a:srgbClr val="F59E0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876300" y="2076450"/>
            <a:ext cx="4991100" cy="320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F43F5E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class</a:t>
            </a:r>
            <a:r>
              <a:rPr b="0" lang="en-US" sz="10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en-US" sz="1000">
                <a:solidFill>
                  <a:srgbClr val="38BDF8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BoundaryCondition</a:t>
            </a:r>
            <a:r>
              <a:rPr b="0" lang="en-US" sz="10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</a:t>
            </a:r>
            <a:endParaRPr b="0" sz="100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F43F5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public:</a:t>
            </a:r>
            <a:endParaRPr b="0" sz="100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virtual</a:t>
            </a:r>
            <a:r>
              <a:rPr b="0" lang="en-US" sz="10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~</a:t>
            </a:r>
            <a:r>
              <a:rPr b="0" lang="en-US" sz="10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BoundaryCondition</a:t>
            </a:r>
            <a:r>
              <a:rPr b="0" lang="en-US" sz="10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 = </a:t>
            </a:r>
            <a:r>
              <a:rPr b="0" lang="en-US" sz="1000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default</a:t>
            </a:r>
            <a:r>
              <a:rPr b="0" lang="en-US" sz="10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b="0" sz="100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virtual</a:t>
            </a:r>
            <a:r>
              <a:rPr b="0" lang="en-US" sz="10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en-US" sz="10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double</a:t>
            </a:r>
            <a:r>
              <a:rPr b="0" lang="en-US" sz="10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en-US" sz="100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computeBoundaryValue</a:t>
            </a:r>
            <a:r>
              <a:rPr b="0" lang="en-US" sz="10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endParaRPr b="0" sz="100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double</a:t>
            </a:r>
            <a:r>
              <a:rPr b="0" lang="en-US" sz="10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neighbor_temp, </a:t>
            </a:r>
            <a:r>
              <a:rPr b="0" lang="en-US" sz="10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double</a:t>
            </a:r>
            <a:r>
              <a:rPr b="0" lang="en-US" sz="10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dx) </a:t>
            </a:r>
            <a:r>
              <a:rPr b="0" lang="en-US" sz="1000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</a:t>
            </a:r>
            <a:r>
              <a:rPr b="0" lang="en-US" sz="10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b="0" lang="en-US" sz="1000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b="0" lang="en-US" sz="10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b="0" sz="100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};</a:t>
            </a:r>
            <a:endParaRPr b="0" sz="100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F43F5E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class</a:t>
            </a:r>
            <a:r>
              <a:rPr b="0" lang="en-US" sz="10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en-US" sz="1000">
                <a:solidFill>
                  <a:srgbClr val="38BDF8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DirichletDC</a:t>
            </a:r>
            <a:r>
              <a:rPr b="0" lang="en-US" sz="10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: </a:t>
            </a:r>
            <a:r>
              <a:rPr b="0" lang="en-US" sz="1000">
                <a:solidFill>
                  <a:srgbClr val="F43F5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</a:t>
            </a:r>
            <a:r>
              <a:rPr b="0" lang="en-US" sz="10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en-US" sz="10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BoundaryCondition</a:t>
            </a:r>
            <a:r>
              <a:rPr b="0" lang="en-US" sz="10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</a:t>
            </a:r>
            <a:endParaRPr b="0" sz="100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double</a:t>
            </a:r>
            <a:r>
              <a:rPr b="0" lang="en-US" sz="10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T_fixed_;</a:t>
            </a:r>
            <a:endParaRPr b="0" sz="100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F43F5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public:</a:t>
            </a:r>
            <a:endParaRPr b="0" sz="100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double</a:t>
            </a:r>
            <a:r>
              <a:rPr b="0" lang="en-US" sz="10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en-US" sz="1000">
                <a:solidFill>
                  <a:srgbClr val="34D39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computeBoundaryValue</a:t>
            </a:r>
            <a:r>
              <a:rPr b="0" lang="en-US" sz="10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endParaRPr b="0" sz="100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45720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double</a:t>
            </a:r>
            <a:r>
              <a:rPr b="0" lang="en-US" sz="10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neighbor_temp, </a:t>
            </a:r>
            <a:r>
              <a:rPr b="0" lang="en-US" sz="10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double</a:t>
            </a:r>
            <a:r>
              <a:rPr b="0" lang="en-US" sz="10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dx</a:t>
            </a:r>
            <a:endParaRPr b="0" sz="100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</a:t>
            </a:r>
            <a:r>
              <a:rPr b="0" lang="en-US" sz="1000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 override</a:t>
            </a:r>
            <a:r>
              <a:rPr b="0" lang="en-US" sz="10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</a:t>
            </a:r>
            <a:r>
              <a:rPr lang="en-US" sz="10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en-US" sz="1000">
                <a:solidFill>
                  <a:srgbClr val="F43F5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b="0" lang="en-US" sz="10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fixed_temperature_;</a:t>
            </a:r>
            <a:endParaRPr b="0" sz="100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0" sz="100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};</a:t>
            </a:r>
            <a:endParaRPr b="0" sz="100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+ NeumannDC (flux thermique imposé)</a:t>
            </a:r>
            <a:endParaRPr b="0" sz="100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6477000" y="1524000"/>
            <a:ext cx="5105400" cy="1047900"/>
          </a:xfrm>
          <a:prstGeom prst="roundRect">
            <a:avLst>
              <a:gd fmla="val 909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9"/>
          <p:cNvSpPr/>
          <p:nvPr/>
        </p:nvSpPr>
        <p:spPr>
          <a:xfrm>
            <a:off x="6477000" y="1524000"/>
            <a:ext cx="57300" cy="10479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9"/>
          <p:cNvSpPr/>
          <p:nvPr/>
        </p:nvSpPr>
        <p:spPr>
          <a:xfrm>
            <a:off x="6477000" y="2762250"/>
            <a:ext cx="5105400" cy="1047900"/>
          </a:xfrm>
          <a:prstGeom prst="roundRect">
            <a:avLst>
              <a:gd fmla="val 909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9"/>
          <p:cNvSpPr/>
          <p:nvPr/>
        </p:nvSpPr>
        <p:spPr>
          <a:xfrm>
            <a:off x="6477000" y="2762250"/>
            <a:ext cx="57300" cy="10479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9"/>
          <p:cNvSpPr/>
          <p:nvPr/>
        </p:nvSpPr>
        <p:spPr>
          <a:xfrm>
            <a:off x="6477000" y="4000500"/>
            <a:ext cx="5105400" cy="1047900"/>
          </a:xfrm>
          <a:prstGeom prst="roundRect">
            <a:avLst>
              <a:gd fmla="val 909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9"/>
          <p:cNvSpPr/>
          <p:nvPr/>
        </p:nvSpPr>
        <p:spPr>
          <a:xfrm>
            <a:off x="6477000" y="4000500"/>
            <a:ext cx="57300" cy="1047900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9"/>
          <p:cNvSpPr/>
          <p:nvPr/>
        </p:nvSpPr>
        <p:spPr>
          <a:xfrm>
            <a:off x="6477000" y="5238750"/>
            <a:ext cx="5105400" cy="1047900"/>
          </a:xfrm>
          <a:prstGeom prst="roundRect">
            <a:avLst>
              <a:gd fmla="val 909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9"/>
          <p:cNvSpPr/>
          <p:nvPr/>
        </p:nvSpPr>
        <p:spPr>
          <a:xfrm>
            <a:off x="6477000" y="5238750"/>
            <a:ext cx="57300" cy="1047900"/>
          </a:xfrm>
          <a:prstGeom prst="roundRect">
            <a:avLst>
              <a:gd fmla="val 50000" name="adj"/>
            </a:avLst>
          </a:prstGeom>
          <a:solidFill>
            <a:srgbClr val="6366F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6724650" y="1524000"/>
            <a:ext cx="4667400" cy="443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Contrat Virtuel Pur</a:t>
            </a:r>
            <a:endParaRPr b="1" sz="1400">
              <a:solidFill>
                <a:srgbClr val="0284C7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Le solveur manipule uniquement des pointeurs BoundaryCondition.</a:t>
            </a:r>
            <a:endParaRPr b="0" sz="1150">
              <a:solidFill>
                <a:srgbClr val="47556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6724650" y="2762250"/>
            <a:ext cx="4667400" cy="443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DirichletDC.hpp</a:t>
            </a:r>
            <a:endParaRPr b="1" sz="1400">
              <a:solidFill>
                <a:srgbClr val="0F172A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Verrouille la température imposée sur les nœuds extrêmes.</a:t>
            </a:r>
            <a:endParaRPr b="0" sz="1150">
              <a:solidFill>
                <a:srgbClr val="47556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6724650" y="4000500"/>
            <a:ext cx="4667400" cy="443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NeumannDC.cpp</a:t>
            </a:r>
            <a:endParaRPr b="1" sz="1400">
              <a:solidFill>
                <a:srgbClr val="0F172A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Adapte l'équation de bord selon le gradient thermique.</a:t>
            </a:r>
            <a:endParaRPr b="0" sz="1150">
              <a:solidFill>
                <a:srgbClr val="47556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6724650" y="5238750"/>
            <a:ext cx="4667400" cy="443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Destructeur Virtuel</a:t>
            </a:r>
            <a:endParaRPr b="1" sz="140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Garantit une libération mémoire sûre lors de la destruction.</a:t>
            </a:r>
            <a:endParaRPr b="0" sz="1150">
              <a:solidFill>
                <a:srgbClr val="47556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/>
          <p:nvPr/>
        </p:nvSpPr>
        <p:spPr>
          <a:xfrm>
            <a:off x="609600" y="1333500"/>
            <a:ext cx="5295900" cy="4000500"/>
          </a:xfrm>
          <a:prstGeom prst="roundRect">
            <a:avLst>
              <a:gd fmla="val 285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6286500" y="1333500"/>
            <a:ext cx="5295900" cy="4000500"/>
          </a:xfrm>
          <a:prstGeom prst="roundRect">
            <a:avLst>
              <a:gd fmla="val 285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0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• STRUCTURES DE DONNÉES</a:t>
            </a:r>
            <a:endParaRPr/>
          </a:p>
        </p:txBody>
      </p:sp>
      <p:sp>
        <p:nvSpPr>
          <p:cNvPr id="159" name="Google Shape;159;p20"/>
          <p:cNvSpPr txBox="1"/>
          <p:nvPr/>
        </p:nvSpPr>
        <p:spPr>
          <a:xfrm>
            <a:off x="857250" y="1543050"/>
            <a:ext cx="4800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mesh_1D.hpp</a:t>
            </a:r>
            <a:endParaRPr b="1" sz="1100">
              <a:solidFill>
                <a:srgbClr val="F59E0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716375" y="1809750"/>
            <a:ext cx="53601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FF7B72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2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250">
                <a:solidFill>
                  <a:srgbClr val="4EC9B0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Mesh1D</a:t>
            </a:r>
            <a:r>
              <a:rPr lang="en-US" sz="12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250">
              <a:solidFill>
                <a:srgbClr val="C9D1D9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FF7B72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private:</a:t>
            </a:r>
            <a:endParaRPr sz="1250">
              <a:solidFill>
                <a:srgbClr val="FF7B72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250">
                <a:solidFill>
                  <a:srgbClr val="FF7B72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-US" sz="12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length_;</a:t>
            </a:r>
            <a:endParaRPr sz="1250">
              <a:solidFill>
                <a:srgbClr val="C9D1D9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250">
                <a:solidFill>
                  <a:srgbClr val="4EC9B0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-US" sz="12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250">
                <a:solidFill>
                  <a:srgbClr val="FF7B72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lang="en-US" sz="12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node_count_;</a:t>
            </a:r>
            <a:endParaRPr sz="1250">
              <a:solidFill>
                <a:srgbClr val="C9D1D9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250">
                <a:solidFill>
                  <a:srgbClr val="FF7B72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-US" sz="12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dx_;</a:t>
            </a:r>
            <a:endParaRPr sz="1250">
              <a:solidFill>
                <a:srgbClr val="C9D1D9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250">
                <a:solidFill>
                  <a:srgbClr val="4EC9B0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-US" sz="12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250">
                <a:solidFill>
                  <a:srgbClr val="4EC9B0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vector</a:t>
            </a:r>
            <a:r>
              <a:rPr lang="en-US" sz="12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250">
                <a:solidFill>
                  <a:srgbClr val="FF7B72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-US" sz="12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&gt; temperatures_;</a:t>
            </a:r>
            <a:endParaRPr sz="1250">
              <a:solidFill>
                <a:srgbClr val="C9D1D9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250">
                <a:solidFill>
                  <a:srgbClr val="569CD6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-US" sz="12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250">
                <a:solidFill>
                  <a:srgbClr val="FF7B72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-US" sz="12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250">
                <a:solidFill>
                  <a:srgbClr val="D2A8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check_length</a:t>
            </a:r>
            <a:r>
              <a:rPr lang="en-US" sz="12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250">
                <a:solidFill>
                  <a:srgbClr val="FF7B72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-US" sz="12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250">
                <a:solidFill>
                  <a:srgbClr val="FFA657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length</a:t>
            </a:r>
            <a:r>
              <a:rPr lang="en-US" sz="12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50">
              <a:solidFill>
                <a:srgbClr val="C9D1D9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250">
                <a:solidFill>
                  <a:srgbClr val="569CD6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-US" sz="12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250">
                <a:solidFill>
                  <a:srgbClr val="4EC9B0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-US" sz="12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250">
                <a:solidFill>
                  <a:srgbClr val="FF7B72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lang="en-US" sz="12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250">
                <a:solidFill>
                  <a:srgbClr val="D2A8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check_nodes</a:t>
            </a:r>
            <a:r>
              <a:rPr lang="en-US" sz="12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250">
                <a:solidFill>
                  <a:srgbClr val="4EC9B0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std</a:t>
            </a:r>
            <a:r>
              <a:rPr lang="en-US" sz="12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250">
                <a:solidFill>
                  <a:srgbClr val="FF7B72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size_t</a:t>
            </a:r>
            <a:r>
              <a:rPr lang="en-US" sz="12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250">
                <a:solidFill>
                  <a:srgbClr val="FFA657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nodes</a:t>
            </a:r>
            <a:r>
              <a:rPr lang="en-US" sz="12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50">
              <a:solidFill>
                <a:srgbClr val="C9D1D9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43F5E"/>
              </a:solidFill>
              <a:latin typeface="JetBrains Mono SemiBold"/>
              <a:ea typeface="JetBrains Mono SemiBold"/>
              <a:cs typeface="JetBrains Mono SemiBold"/>
              <a:sym typeface="JetBrains Mono SemiBold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6534150" y="1543050"/>
            <a:ext cx="4800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material.hpp</a:t>
            </a:r>
            <a:endParaRPr b="1" sz="1100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6371525" y="1924050"/>
            <a:ext cx="49632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7B72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4EC9B0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Material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50">
                <a:solidFill>
                  <a:srgbClr val="FF7B72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private :</a:t>
            </a:r>
            <a:endParaRPr sz="1050">
              <a:solidFill>
                <a:srgbClr val="FF7B72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1050">
                <a:solidFill>
                  <a:srgbClr val="FF7B72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conductivite_;</a:t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1050">
                <a:solidFill>
                  <a:srgbClr val="FF7B72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mass_volumique_;</a:t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1050">
                <a:solidFill>
                  <a:srgbClr val="FF7B72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capa_ther_massique_;</a:t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1050">
                <a:solidFill>
                  <a:srgbClr val="569CD6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FF7B72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2A8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check_positivity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FF7B72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FFA657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50">
                <a:solidFill>
                  <a:srgbClr val="FF7B72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public :</a:t>
            </a:r>
            <a:endParaRPr sz="1050">
              <a:solidFill>
                <a:srgbClr val="FF7B72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50">
                <a:solidFill>
                  <a:srgbClr val="D2A8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Material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FF7B72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FFA657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conductivite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FF7B72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FFA657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mass_volumique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FF7B72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FFA657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capa_ther_massique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US" sz="1050">
                <a:solidFill>
                  <a:srgbClr val="D2A8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~Material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FF7B72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1050">
                <a:solidFill>
                  <a:srgbClr val="FF7B72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2A8FF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diffusivity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en-US" sz="1050">
                <a:solidFill>
                  <a:srgbClr val="569CD6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-US" sz="1050">
                <a:solidFill>
                  <a:srgbClr val="C9D1D9"/>
                </a:solidFill>
                <a:highlight>
                  <a:srgbClr val="121314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9D1D9"/>
              </a:solidFill>
              <a:highlight>
                <a:srgbClr val="12131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43F5E"/>
              </a:solidFill>
              <a:latin typeface="JetBrains Mono SemiBold"/>
              <a:ea typeface="JetBrains Mono SemiBold"/>
              <a:cs typeface="JetBrains Mono SemiBold"/>
              <a:sym typeface="JetBrains Mono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43F5E"/>
              </a:solidFill>
              <a:latin typeface="JetBrains Mono SemiBold"/>
              <a:ea typeface="JetBrains Mono SemiBold"/>
              <a:cs typeface="JetBrains Mono SemiBold"/>
              <a:sym typeface="JetBrains Mono SemiBold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609600" y="5543550"/>
            <a:ext cx="10972800" cy="647700"/>
          </a:xfrm>
          <a:prstGeom prst="roundRect">
            <a:avLst>
              <a:gd fmla="val 14705" name="adj"/>
            </a:avLst>
          </a:prstGeom>
          <a:solidFill>
            <a:srgbClr val="E0F2F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838200" y="5543550"/>
            <a:ext cx="105156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284C7"/>
                </a:solidFill>
                <a:latin typeface="DM Sans"/>
                <a:ea typeface="DM Sans"/>
                <a:cs typeface="DM Sans"/>
                <a:sym typeface="DM Sans"/>
              </a:rPr>
              <a:t>Optimisation :</a:t>
            </a:r>
            <a:r>
              <a:rPr lang="en-US" sz="130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Accesseurs constants (</a:t>
            </a:r>
            <a:r>
              <a:rPr lang="en-US" sz="1100">
                <a:solidFill>
                  <a:srgbClr val="0369A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const-correctness</a:t>
            </a:r>
            <a:r>
              <a:rPr lang="en-US" sz="130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) et allocation contiguë via </a:t>
            </a:r>
            <a:r>
              <a:rPr lang="en-US" sz="1100">
                <a:solidFill>
                  <a:srgbClr val="0369A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std::vector</a:t>
            </a:r>
            <a:r>
              <a:rPr lang="en-US" sz="130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 pour maximiser la performance du cache CPU.</a:t>
            </a:r>
            <a:endParaRPr sz="1300">
              <a:solidFill>
                <a:srgbClr val="0F172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/>
          <p:nvPr/>
        </p:nvSpPr>
        <p:spPr>
          <a:xfrm>
            <a:off x="3238500" y="1409700"/>
            <a:ext cx="8343900" cy="4648200"/>
          </a:xfrm>
          <a:prstGeom prst="roundRect">
            <a:avLst>
              <a:gd fmla="val 3278" name="adj"/>
            </a:avLst>
          </a:prstGeom>
          <a:solidFill>
            <a:srgbClr val="0D131F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1"/>
          <p:cNvSpPr/>
          <p:nvPr/>
        </p:nvSpPr>
        <p:spPr>
          <a:xfrm>
            <a:off x="3238500" y="1409700"/>
            <a:ext cx="8343900" cy="362100"/>
          </a:xfrm>
          <a:custGeom>
            <a:rect b="b" l="l" r="r" t="t"/>
            <a:pathLst>
              <a:path extrusionOk="0" h="120000" w="120000">
                <a:moveTo>
                  <a:pt x="0" y="50526"/>
                </a:moveTo>
                <a:cubicBezTo>
                  <a:pt x="0" y="22621"/>
                  <a:pt x="981" y="0"/>
                  <a:pt x="2192" y="0"/>
                </a:cubicBezTo>
                <a:lnTo>
                  <a:pt x="117808" y="0"/>
                </a:lnTo>
                <a:cubicBezTo>
                  <a:pt x="118389" y="-1"/>
                  <a:pt x="118947" y="5321"/>
                  <a:pt x="119358" y="14797"/>
                </a:cubicBezTo>
                <a:cubicBezTo>
                  <a:pt x="119769" y="24273"/>
                  <a:pt x="120000" y="37125"/>
                  <a:pt x="120000" y="50526"/>
                </a:cubicBez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1"/>
          <p:cNvSpPr/>
          <p:nvPr/>
        </p:nvSpPr>
        <p:spPr>
          <a:xfrm>
            <a:off x="3400425" y="1543050"/>
            <a:ext cx="95400" cy="954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1"/>
          <p:cNvSpPr/>
          <p:nvPr/>
        </p:nvSpPr>
        <p:spPr>
          <a:xfrm>
            <a:off x="3552825" y="1543050"/>
            <a:ext cx="95400" cy="95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1"/>
          <p:cNvSpPr/>
          <p:nvPr/>
        </p:nvSpPr>
        <p:spPr>
          <a:xfrm>
            <a:off x="3705225" y="1543050"/>
            <a:ext cx="95400" cy="95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3952875" y="150495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94A3B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DFDiscretization.cpp</a:t>
            </a:r>
            <a:endParaRPr b="0" sz="950">
              <a:solidFill>
                <a:srgbClr val="94A3B8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609600" y="1409700"/>
            <a:ext cx="2381400" cy="1447800"/>
          </a:xfrm>
          <a:prstGeom prst="roundRect">
            <a:avLst>
              <a:gd fmla="val 789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1"/>
          <p:cNvSpPr/>
          <p:nvPr/>
        </p:nvSpPr>
        <p:spPr>
          <a:xfrm>
            <a:off x="609600" y="3009900"/>
            <a:ext cx="2381400" cy="1447800"/>
          </a:xfrm>
          <a:prstGeom prst="roundRect">
            <a:avLst>
              <a:gd fmla="val 789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1"/>
          <p:cNvSpPr/>
          <p:nvPr/>
        </p:nvSpPr>
        <p:spPr>
          <a:xfrm>
            <a:off x="609600" y="4610100"/>
            <a:ext cx="2381400" cy="1447800"/>
          </a:xfrm>
          <a:prstGeom prst="roundRect">
            <a:avLst>
              <a:gd fmla="val 789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• OPÉRATEUR SPATIAL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609600" y="704850"/>
            <a:ext cx="115824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SpatialDiscretization &amp; Différences Finies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3467100" y="1924050"/>
            <a:ext cx="7886700" cy="321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DFDiscretization.cpp (Assemblage Tridiagonal)</a:t>
            </a:r>
            <a:endParaRPr sz="1000">
              <a:solidFill>
                <a:srgbClr val="F59E0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void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000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DFDiscretization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::</a:t>
            </a:r>
            <a:r>
              <a:rPr lang="en-US" sz="1000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buildOperators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00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000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Mesh1D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&amp; mesh,</a:t>
            </a:r>
            <a:endParaRPr sz="1000">
              <a:solidFill>
                <a:srgbClr val="F8FAF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000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Material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&amp; mat,</a:t>
            </a:r>
            <a:endParaRPr sz="1000">
              <a:solidFill>
                <a:srgbClr val="F8FAF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000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BoundaryCondition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&amp; bc_left,</a:t>
            </a:r>
            <a:endParaRPr sz="1000">
              <a:solidFill>
                <a:srgbClr val="F8FAF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000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BoundaryCondition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&amp; bc_right) {</a:t>
            </a:r>
            <a:endParaRPr sz="1000">
              <a:solidFill>
                <a:srgbClr val="F8FAF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std::size_t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n = mesh.</a:t>
            </a:r>
            <a:r>
              <a:rPr lang="en-US" sz="1000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node_count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endParaRPr sz="1000">
              <a:solidFill>
                <a:srgbClr val="F8FAF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double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dx = mesh.</a:t>
            </a:r>
            <a:r>
              <a:rPr lang="en-US" sz="1000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dx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endParaRPr sz="1000">
              <a:solidFill>
                <a:srgbClr val="F8FAF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double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alpha = mat.</a:t>
            </a:r>
            <a:r>
              <a:rPr lang="en-US" sz="1000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diffusivity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endParaRPr sz="1000">
              <a:solidFill>
                <a:srgbClr val="F8FAF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double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inv_dx2 = </a:t>
            </a:r>
            <a:r>
              <a:rPr lang="en-US" sz="100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1.0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/ (dx * dx);</a:t>
            </a:r>
            <a:endParaRPr sz="1000">
              <a:solidFill>
                <a:srgbClr val="F8FAF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1. En FDM, la dérivée temporelle est locale : M = I</a:t>
            </a:r>
            <a:endParaRPr sz="1000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M_.diag.</a:t>
            </a:r>
            <a:r>
              <a:rPr lang="en-US" sz="1000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assign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(n, </a:t>
            </a:r>
            <a:r>
              <a:rPr lang="en-US" sz="100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1.0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 M_.lower.</a:t>
            </a:r>
            <a:r>
              <a:rPr lang="en-US" sz="1000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assign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(n - </a:t>
            </a:r>
            <a:r>
              <a:rPr lang="en-US" sz="100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00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0.0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 M_.upper.</a:t>
            </a:r>
            <a:r>
              <a:rPr lang="en-US" sz="1000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assign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(n - </a:t>
            </a:r>
            <a:r>
              <a:rPr lang="en-US" sz="100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lang="en-US" sz="100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0.0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endParaRPr sz="1000">
              <a:solidFill>
                <a:srgbClr val="F8FAF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2. Opérateur spatial : -alpha * d²u/dx²</a:t>
            </a:r>
            <a:endParaRPr sz="1000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K_.diag.</a:t>
            </a:r>
            <a:r>
              <a:rPr lang="en-US" sz="1000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assign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(n, </a:t>
            </a:r>
            <a:r>
              <a:rPr lang="en-US" sz="100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2.0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* alpha * inv_dx2);</a:t>
            </a:r>
            <a:endParaRPr sz="1000">
              <a:solidFill>
                <a:srgbClr val="F8FAF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K_.lower.</a:t>
            </a:r>
            <a:r>
              <a:rPr lang="en-US" sz="1000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assign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(n - </a:t>
            </a:r>
            <a:r>
              <a:rPr lang="en-US" sz="100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-alpha * inv_dx2); K_.upper.</a:t>
            </a:r>
            <a:r>
              <a:rPr lang="en-US" sz="1000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assign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(n - </a:t>
            </a:r>
            <a:r>
              <a:rPr lang="en-US" sz="100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-alpha * inv_dx2);</a:t>
            </a:r>
            <a:endParaRPr sz="1000">
              <a:solidFill>
                <a:srgbClr val="F8FAF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F_.</a:t>
            </a:r>
            <a:r>
              <a:rPr lang="en-US" sz="1000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assign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(n, </a:t>
            </a:r>
            <a:r>
              <a:rPr lang="en-US" sz="100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0.0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endParaRPr sz="1000">
              <a:solidFill>
                <a:srgbClr val="F8FAF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applyBoundaryConditions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(bc_left, bc_right, dx);</a:t>
            </a:r>
            <a:endParaRPr sz="1000">
              <a:solidFill>
                <a:srgbClr val="F8FAF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000">
              <a:solidFill>
                <a:srgbClr val="F8FAF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781050" y="1562100"/>
            <a:ext cx="2038500" cy="60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rPr>
              <a:t>Abstraction Pure</a:t>
            </a:r>
            <a:endParaRPr b="1" sz="1350">
              <a:solidFill>
                <a:srgbClr val="1D4ED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Contrat buildOperators assemblant M_, K_ et F_.</a:t>
            </a:r>
            <a:endParaRPr b="0" sz="11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781050" y="3162300"/>
            <a:ext cx="2038500" cy="60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rPr>
              <a:t>Assemblage Creux O(N)</a:t>
            </a:r>
            <a:endParaRPr b="1" sz="1350">
              <a:solidFill>
                <a:srgbClr val="1D4ED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 diagonales std::vector remplies via .assign().</a:t>
            </a:r>
            <a:endParaRPr b="0" sz="11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781050" y="4762500"/>
            <a:ext cx="2038500" cy="811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rPr>
              <a:t>Opérateur Spatial Pur (Sans dt)</a:t>
            </a:r>
            <a:endParaRPr b="1" sz="1350">
              <a:solidFill>
                <a:srgbClr val="1D4ED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Calculé depuis mat.diffusivity() et mesh.dx().</a:t>
            </a:r>
            <a:endParaRPr b="0" sz="11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/>
          <p:nvPr/>
        </p:nvSpPr>
        <p:spPr>
          <a:xfrm>
            <a:off x="3238500" y="1409700"/>
            <a:ext cx="8343900" cy="4648200"/>
          </a:xfrm>
          <a:prstGeom prst="roundRect">
            <a:avLst>
              <a:gd fmla="val 3278" name="adj"/>
            </a:avLst>
          </a:prstGeom>
          <a:solidFill>
            <a:srgbClr val="0D131F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2"/>
          <p:cNvSpPr/>
          <p:nvPr/>
        </p:nvSpPr>
        <p:spPr>
          <a:xfrm>
            <a:off x="3238500" y="1409700"/>
            <a:ext cx="8343900" cy="362100"/>
          </a:xfrm>
          <a:custGeom>
            <a:rect b="b" l="l" r="r" t="t"/>
            <a:pathLst>
              <a:path extrusionOk="0" h="120000" w="120000">
                <a:moveTo>
                  <a:pt x="0" y="50526"/>
                </a:moveTo>
                <a:cubicBezTo>
                  <a:pt x="0" y="22611"/>
                  <a:pt x="981" y="0"/>
                  <a:pt x="2192" y="0"/>
                </a:cubicBezTo>
                <a:lnTo>
                  <a:pt x="117808" y="0"/>
                </a:lnTo>
                <a:cubicBezTo>
                  <a:pt x="119019" y="0"/>
                  <a:pt x="120000" y="22611"/>
                  <a:pt x="120000" y="50526"/>
                </a:cubicBez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2"/>
          <p:cNvSpPr/>
          <p:nvPr/>
        </p:nvSpPr>
        <p:spPr>
          <a:xfrm>
            <a:off x="3400425" y="1543050"/>
            <a:ext cx="95400" cy="954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2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• TRAITEMENT DES BORDS (RTTI)</a:t>
            </a:r>
            <a:endParaRPr/>
          </a:p>
        </p:txBody>
      </p:sp>
      <p:sp>
        <p:nvSpPr>
          <p:cNvPr id="192" name="Google Shape;192;p22"/>
          <p:cNvSpPr/>
          <p:nvPr/>
        </p:nvSpPr>
        <p:spPr>
          <a:xfrm>
            <a:off x="3552825" y="1543050"/>
            <a:ext cx="95400" cy="95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2"/>
          <p:cNvSpPr txBox="1"/>
          <p:nvPr/>
        </p:nvSpPr>
        <p:spPr>
          <a:xfrm>
            <a:off x="609600" y="704850"/>
            <a:ext cx="115824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Adaptation Matricielle via dynamic_cast</a:t>
            </a:r>
            <a:endParaRPr/>
          </a:p>
        </p:txBody>
      </p:sp>
      <p:sp>
        <p:nvSpPr>
          <p:cNvPr id="194" name="Google Shape;194;p22"/>
          <p:cNvSpPr/>
          <p:nvPr/>
        </p:nvSpPr>
        <p:spPr>
          <a:xfrm>
            <a:off x="3705225" y="1543050"/>
            <a:ext cx="95400" cy="95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3952875" y="1504950"/>
            <a:ext cx="285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94A3B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DFDiscretization.cpp</a:t>
            </a:r>
            <a:endParaRPr b="0" i="0" sz="950">
              <a:solidFill>
                <a:srgbClr val="94A3B8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609600" y="1409700"/>
            <a:ext cx="2381400" cy="1447800"/>
          </a:xfrm>
          <a:prstGeom prst="roundRect">
            <a:avLst>
              <a:gd fmla="val 789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2"/>
          <p:cNvSpPr/>
          <p:nvPr/>
        </p:nvSpPr>
        <p:spPr>
          <a:xfrm>
            <a:off x="609600" y="3009900"/>
            <a:ext cx="2381400" cy="1447800"/>
          </a:xfrm>
          <a:prstGeom prst="roundRect">
            <a:avLst>
              <a:gd fmla="val 789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781050" y="1562100"/>
            <a:ext cx="2038500" cy="17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8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rPr>
              <a:t>Identification à l'exécution</a:t>
            </a:r>
            <a:endParaRPr b="1" i="0" sz="1148">
              <a:solidFill>
                <a:srgbClr val="1D4ED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9" name="Google Shape;199;p22"/>
          <p:cNvSpPr txBox="1"/>
          <p:nvPr/>
        </p:nvSpPr>
        <p:spPr>
          <a:xfrm>
            <a:off x="781050" y="1885950"/>
            <a:ext cx="20385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Inspection sécurisée du type réel de bc_left.</a:t>
            </a:r>
            <a:endParaRPr b="0" i="0" sz="11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781050" y="3162300"/>
            <a:ext cx="20385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rPr>
              <a:t>Modification locale</a:t>
            </a:r>
            <a:endParaRPr b="1" i="0" sz="1350">
              <a:solidFill>
                <a:srgbClr val="1D4ED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781050" y="3486150"/>
            <a:ext cx="20385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Ajuste uniquement les lignes 0 et n-1 des matrices.</a:t>
            </a:r>
            <a:endParaRPr b="0" i="0" sz="11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3467100" y="1924050"/>
            <a:ext cx="7886700" cy="2632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DFDiscretization.cpp (applyBoundaryConditions)</a:t>
            </a:r>
            <a:endParaRPr b="0" sz="105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b="0" lang="en-US" sz="10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</a:t>
            </a:r>
            <a:r>
              <a:rPr b="0" lang="en-US" sz="105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auto</a:t>
            </a:r>
            <a:r>
              <a:rPr b="0" lang="en-US" sz="10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dirichlet = </a:t>
            </a:r>
            <a:r>
              <a:rPr b="0" lang="en-US" sz="105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dynamic_cast</a:t>
            </a:r>
            <a:r>
              <a:rPr b="0" lang="en-US" sz="10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</a:t>
            </a:r>
            <a:r>
              <a:rPr b="0" lang="en-US" sz="105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</a:t>
            </a:r>
            <a:r>
              <a:rPr b="0" lang="en-US" sz="1050"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en-US" sz="1050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DirichletDC</a:t>
            </a:r>
            <a:r>
              <a:rPr b="0" lang="en-US" sz="10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*&gt;(&amp;bc_left)) {</a:t>
            </a:r>
            <a:endParaRPr b="0" sz="105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Équation forcée : 1 * u_0 = T_fixe</a:t>
            </a:r>
            <a:endParaRPr b="0" sz="105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M_.diag[</a:t>
            </a:r>
            <a:r>
              <a:rPr b="0" lang="en-US" sz="105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b="0" lang="en-US" sz="10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 = </a:t>
            </a:r>
            <a:r>
              <a:rPr b="0" lang="en-US" sz="105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0.0</a:t>
            </a:r>
            <a:r>
              <a:rPr b="0" lang="en-US" sz="10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b="0" sz="105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K_.diag[</a:t>
            </a:r>
            <a:r>
              <a:rPr b="0" lang="en-US" sz="105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b="0" lang="en-US" sz="10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 = </a:t>
            </a:r>
            <a:r>
              <a:rPr b="0" lang="en-US" sz="105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1.0</a:t>
            </a:r>
            <a:r>
              <a:rPr b="0" lang="en-US" sz="10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K_.upper[</a:t>
            </a:r>
            <a:r>
              <a:rPr b="0" lang="en-US" sz="105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b="0" lang="en-US" sz="10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 = </a:t>
            </a:r>
            <a:r>
              <a:rPr b="0" lang="en-US" sz="105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0.0</a:t>
            </a:r>
            <a:r>
              <a:rPr b="0" lang="en-US" sz="10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b="0" sz="105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F_[</a:t>
            </a:r>
            <a:r>
              <a:rPr b="0" lang="en-US" sz="105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b="0" lang="en-US" sz="10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 = dirichlet-&gt;</a:t>
            </a:r>
            <a:r>
              <a:rPr b="0" lang="en-US" sz="1050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computeBoundaryValue</a:t>
            </a:r>
            <a:r>
              <a:rPr b="0" lang="en-US" sz="10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lang="en-US" sz="105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0.0</a:t>
            </a:r>
            <a:r>
              <a:rPr b="0" lang="en-US" sz="10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dx);</a:t>
            </a:r>
            <a:endParaRPr b="0" sz="105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 </a:t>
            </a:r>
            <a:r>
              <a:rPr b="0" lang="en-US" sz="105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else if</a:t>
            </a:r>
            <a:r>
              <a:rPr b="0" lang="en-US" sz="10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</a:t>
            </a:r>
            <a:r>
              <a:rPr b="0" lang="en-US" sz="105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dynamic_cast</a:t>
            </a:r>
            <a:r>
              <a:rPr b="0" lang="en-US" sz="10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</a:t>
            </a:r>
            <a:r>
              <a:rPr b="0" lang="en-US" sz="105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</a:t>
            </a:r>
            <a:r>
              <a:rPr b="0" lang="en-US" sz="1050"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en-US" sz="1050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NeumannDC</a:t>
            </a:r>
            <a:r>
              <a:rPr b="0" lang="en-US" sz="10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*&gt;(&amp;bc_left)) {</a:t>
            </a:r>
            <a:endParaRPr b="0" sz="105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Flux imposé : -1 * u_0 + 1 * u_1 = flux * dx</a:t>
            </a:r>
            <a:endParaRPr b="0" sz="105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M_.diag[</a:t>
            </a:r>
            <a:r>
              <a:rPr b="0" lang="en-US" sz="105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b="0" lang="en-US" sz="10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 = </a:t>
            </a:r>
            <a:r>
              <a:rPr b="0" lang="en-US" sz="105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0.0</a:t>
            </a:r>
            <a:r>
              <a:rPr b="0" lang="en-US" sz="10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b="0" sz="105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K_.diag[</a:t>
            </a:r>
            <a:r>
              <a:rPr b="0" lang="en-US" sz="105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b="0" lang="en-US" sz="10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 = -</a:t>
            </a:r>
            <a:r>
              <a:rPr b="0" lang="en-US" sz="105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1.0</a:t>
            </a:r>
            <a:r>
              <a:rPr b="0" lang="en-US" sz="10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K_.upper[</a:t>
            </a:r>
            <a:r>
              <a:rPr b="0" lang="en-US" sz="105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b="0" lang="en-US" sz="10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 = </a:t>
            </a:r>
            <a:r>
              <a:rPr b="0" lang="en-US" sz="105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1.0</a:t>
            </a:r>
            <a:r>
              <a:rPr b="0" lang="en-US" sz="10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</a:t>
            </a:r>
            <a:endParaRPr b="0" sz="105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F_[</a:t>
            </a:r>
            <a:r>
              <a:rPr b="0" lang="en-US" sz="105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b="0" lang="en-US" sz="10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] = bc_left.</a:t>
            </a:r>
            <a:r>
              <a:rPr b="0" lang="en-US" sz="1050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computeBoundaryValue</a:t>
            </a:r>
            <a:r>
              <a:rPr b="0" lang="en-US" sz="10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lang="en-US" sz="105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0.0</a:t>
            </a:r>
            <a:r>
              <a:rPr b="0" lang="en-US" sz="10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dx);</a:t>
            </a:r>
            <a:endParaRPr b="0" sz="105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0" sz="1050"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3"/>
          <p:cNvSpPr txBox="1"/>
          <p:nvPr/>
        </p:nvSpPr>
        <p:spPr>
          <a:xfrm>
            <a:off x="609600" y="4572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 • INTÉGRATION TEMPORELLE</a:t>
            </a:r>
            <a:endParaRPr b="1" sz="1050">
              <a:solidFill>
                <a:srgbClr val="2563E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09" name="Google Shape;209;p23"/>
          <p:cNvSpPr txBox="1"/>
          <p:nvPr/>
        </p:nvSpPr>
        <p:spPr>
          <a:xfrm>
            <a:off x="609600" y="704850"/>
            <a:ext cx="109728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Agrégation Faible &amp; Euler Implicite (IE_Solver)</a:t>
            </a:r>
            <a:endParaRPr b="1" sz="255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609600" y="1409700"/>
            <a:ext cx="2381400" cy="1447800"/>
          </a:xfrm>
          <a:prstGeom prst="roundRect">
            <a:avLst>
              <a:gd fmla="val 789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781050" y="1562100"/>
            <a:ext cx="2038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rPr>
              <a:t>Agrégation par référence</a:t>
            </a:r>
            <a:endParaRPr b="1" sz="1350">
              <a:solidFill>
                <a:srgbClr val="1D4ED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TimeSolver observe SpatialDiscretization sans copie.</a:t>
            </a:r>
            <a:endParaRPr b="0" sz="11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609600" y="3009900"/>
            <a:ext cx="2381400" cy="1447800"/>
          </a:xfrm>
          <a:prstGeom prst="roundRect">
            <a:avLst>
              <a:gd fmla="val 789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781050" y="3162300"/>
            <a:ext cx="2038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rPr>
              <a:t>Précalcul setup(dt)</a:t>
            </a:r>
            <a:endParaRPr b="1" sz="1350">
              <a:solidFill>
                <a:srgbClr val="1D4ED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Assemble A = M + dt * K avant la boucle temporelle.</a:t>
            </a:r>
            <a:endParaRPr b="0" sz="11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609600" y="4610100"/>
            <a:ext cx="2381400" cy="1447800"/>
          </a:xfrm>
          <a:prstGeom prst="roundRect">
            <a:avLst>
              <a:gd fmla="val 789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781050" y="4762500"/>
            <a:ext cx="2038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rPr>
              <a:t>Algorithme de Thomas</a:t>
            </a:r>
            <a:endParaRPr b="1" sz="1350">
              <a:solidFill>
                <a:srgbClr val="1D4ED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Inversion tridiagonale en complexité linéaire O(N).</a:t>
            </a:r>
            <a:endParaRPr b="0" sz="11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3238500" y="1409700"/>
            <a:ext cx="8343900" cy="4648200"/>
          </a:xfrm>
          <a:prstGeom prst="roundRect">
            <a:avLst>
              <a:gd fmla="val 3278" name="adj"/>
            </a:avLst>
          </a:prstGeom>
          <a:solidFill>
            <a:srgbClr val="0D131F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3"/>
          <p:cNvSpPr/>
          <p:nvPr/>
        </p:nvSpPr>
        <p:spPr>
          <a:xfrm>
            <a:off x="3238500" y="1409700"/>
            <a:ext cx="8343900" cy="362100"/>
          </a:xfrm>
          <a:custGeom>
            <a:rect b="b" l="l" r="r" t="t"/>
            <a:pathLst>
              <a:path extrusionOk="0" h="120000" w="120000">
                <a:moveTo>
                  <a:pt x="0" y="50526"/>
                </a:moveTo>
                <a:cubicBezTo>
                  <a:pt x="0" y="22611"/>
                  <a:pt x="981" y="0"/>
                  <a:pt x="2192" y="0"/>
                </a:cubicBezTo>
                <a:lnTo>
                  <a:pt x="117808" y="0"/>
                </a:lnTo>
                <a:cubicBezTo>
                  <a:pt x="119019" y="0"/>
                  <a:pt x="120000" y="22611"/>
                  <a:pt x="120000" y="50526"/>
                </a:cubicBez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/>
          <p:nvPr/>
        </p:nvSpPr>
        <p:spPr>
          <a:xfrm>
            <a:off x="3352800" y="1543050"/>
            <a:ext cx="95400" cy="954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3"/>
          <p:cNvSpPr/>
          <p:nvPr/>
        </p:nvSpPr>
        <p:spPr>
          <a:xfrm>
            <a:off x="3505200" y="1543050"/>
            <a:ext cx="95400" cy="95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3"/>
          <p:cNvSpPr/>
          <p:nvPr/>
        </p:nvSpPr>
        <p:spPr>
          <a:xfrm>
            <a:off x="3657600" y="1543050"/>
            <a:ext cx="95400" cy="95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3952875" y="150495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94A3B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IE_Solver.cpp</a:t>
            </a:r>
            <a:endParaRPr b="0" sz="950">
              <a:solidFill>
                <a:srgbClr val="94A3B8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3467100" y="1924050"/>
            <a:ext cx="7886700" cy="39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IE_Solver.cpp (setup &amp; step)</a:t>
            </a:r>
            <a:endParaRPr sz="1000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void</a:t>
            </a:r>
            <a:r>
              <a:rPr lang="en-US" sz="1000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000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IE_Solver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::</a:t>
            </a:r>
            <a:r>
              <a:rPr lang="en-US" sz="1000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setup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00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double</a:t>
            </a:r>
            <a:r>
              <a:rPr lang="en-US" sz="1000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dt) {</a:t>
            </a:r>
            <a:endParaRPr sz="1000">
              <a:solidFill>
                <a:srgbClr val="F59E0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 auto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&amp; M = spatial_.</a:t>
            </a:r>
            <a:r>
              <a:rPr lang="en-US" sz="1000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getMassMatrix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endParaRPr sz="1000">
              <a:solidFill>
                <a:srgbClr val="F59E0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const auto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&amp; K = spatial_.</a:t>
            </a:r>
            <a:r>
              <a:rPr lang="en-US" sz="1000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getStiffnessMatrix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endParaRPr sz="1000">
              <a:solidFill>
                <a:srgbClr val="F59E0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lang="en-US" sz="1000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000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std::size_t</a:t>
            </a:r>
            <a:r>
              <a:rPr lang="en-US" sz="1000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 = </a:t>
            </a:r>
            <a:r>
              <a:rPr lang="en-US" sz="100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i &lt; n; ++i)</a:t>
            </a:r>
            <a:endParaRPr sz="1000">
              <a:solidFill>
                <a:srgbClr val="F59E0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A_.diag[i] = M.diag[i] + dt * K.diag[i];</a:t>
            </a:r>
            <a:endParaRPr sz="1000">
              <a:solidFill>
                <a:srgbClr val="F59E0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000">
              <a:solidFill>
                <a:srgbClr val="F59E0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void</a:t>
            </a:r>
            <a:r>
              <a:rPr lang="en-US" sz="1000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000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IE_Solver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::</a:t>
            </a:r>
            <a:r>
              <a:rPr lang="en-US" sz="1000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000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Mesh1D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&amp; mesh, </a:t>
            </a:r>
            <a:r>
              <a:rPr lang="en-US" sz="100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double</a:t>
            </a:r>
            <a:r>
              <a:rPr lang="en-US" sz="1000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dt) {</a:t>
            </a:r>
            <a:endParaRPr sz="1000">
              <a:solidFill>
                <a:srgbClr val="F59E0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std::vector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</a:t>
            </a:r>
            <a:r>
              <a:rPr lang="en-US" sz="100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double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Mu = </a:t>
            </a:r>
            <a:r>
              <a:rPr lang="en-US" sz="1000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multiply_matrix_vector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(M, u_current);</a:t>
            </a:r>
            <a:endParaRPr sz="1000">
              <a:solidFill>
                <a:srgbClr val="F59E0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lang="en-US" sz="1000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lang="en-US" sz="1000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std::size_t</a:t>
            </a:r>
            <a:r>
              <a:rPr lang="en-US" sz="1000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 = </a:t>
            </a:r>
            <a:r>
              <a:rPr lang="en-US" sz="100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; i &lt; n; ++i)</a:t>
            </a:r>
            <a:endParaRPr sz="1000">
              <a:solidFill>
                <a:srgbClr val="F59E0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B[i] = Mu[i] + dt * F[i];</a:t>
            </a:r>
            <a:endParaRPr sz="1000">
              <a:solidFill>
                <a:srgbClr val="F59E0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std::vector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</a:t>
            </a:r>
            <a:r>
              <a:rPr lang="en-US" sz="100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double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u_next = </a:t>
            </a:r>
            <a:r>
              <a:rPr lang="en-US" sz="1000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solve_tridiagonal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(A_, B);</a:t>
            </a:r>
            <a:endParaRPr sz="1000">
              <a:solidFill>
                <a:srgbClr val="F59E0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mesh.</a:t>
            </a:r>
            <a:r>
              <a:rPr lang="en-US" sz="1000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set_temperatures</a:t>
            </a: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(u_next);</a:t>
            </a:r>
            <a:endParaRPr sz="1000">
              <a:solidFill>
                <a:srgbClr val="F59E0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000">
              <a:solidFill>
                <a:srgbClr val="F59E0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"/>
          <p:cNvSpPr/>
          <p:nvPr/>
        </p:nvSpPr>
        <p:spPr>
          <a:xfrm>
            <a:off x="5753100" y="2838450"/>
            <a:ext cx="19050" cy="20955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 • OPTIMISATION ALGORITHMIQUE &amp; MÉMOIRE</a:t>
            </a:r>
            <a:endParaRPr/>
          </a:p>
        </p:txBody>
      </p:sp>
      <p:sp>
        <p:nvSpPr>
          <p:cNvPr id="229" name="Google Shape;229;p24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Pourquoi un Solveur Tridiagonal Dédié ?</a:t>
            </a:r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964406" y="2838462"/>
            <a:ext cx="4643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O(N)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964406" y="4224337"/>
            <a:ext cx="464343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Complexité Temporelle et Spatiale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964406" y="4538662"/>
            <a:ext cx="46434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3 vecteurs de taille N au lieu d'une matrice N×N</a:t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6381750" y="2905125"/>
            <a:ext cx="54768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9770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vs O(N³) Pivot de Gauss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6381750" y="3314700"/>
            <a:ext cx="4476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Gain d'un facteur 1 000 000 pour un maillage de N = 1000 nœuds à chaque pas de temps.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6381750" y="4000500"/>
            <a:ext cx="54768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24 Ko vs 8 Mo en RAM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6381750" y="4410075"/>
            <a:ext cx="4476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Les données tiennent intégralement dans le cache L1 du processeur.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5"/>
          <p:cNvSpPr/>
          <p:nvPr/>
        </p:nvSpPr>
        <p:spPr>
          <a:xfrm>
            <a:off x="3238500" y="1409700"/>
            <a:ext cx="8343900" cy="4648200"/>
          </a:xfrm>
          <a:prstGeom prst="roundRect">
            <a:avLst>
              <a:gd fmla="val 3278" name="adj"/>
            </a:avLst>
          </a:prstGeom>
          <a:solidFill>
            <a:srgbClr val="0D131F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5"/>
          <p:cNvSpPr/>
          <p:nvPr/>
        </p:nvSpPr>
        <p:spPr>
          <a:xfrm>
            <a:off x="609600" y="1409700"/>
            <a:ext cx="2381400" cy="1447800"/>
          </a:xfrm>
          <a:prstGeom prst="roundRect">
            <a:avLst>
              <a:gd fmla="val 789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5"/>
          <p:cNvSpPr/>
          <p:nvPr/>
        </p:nvSpPr>
        <p:spPr>
          <a:xfrm>
            <a:off x="609600" y="3009900"/>
            <a:ext cx="2381400" cy="1447800"/>
          </a:xfrm>
          <a:prstGeom prst="roundRect">
            <a:avLst>
              <a:gd fmla="val 789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5"/>
          <p:cNvSpPr/>
          <p:nvPr/>
        </p:nvSpPr>
        <p:spPr>
          <a:xfrm>
            <a:off x="609600" y="4610100"/>
            <a:ext cx="2381400" cy="1447800"/>
          </a:xfrm>
          <a:prstGeom prst="roundRect">
            <a:avLst>
              <a:gd fmla="val 789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5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• VALIDATION NUMÉRIQUE</a:t>
            </a:r>
            <a:endParaRPr/>
          </a:p>
        </p:txBody>
      </p:sp>
      <p:sp>
        <p:nvSpPr>
          <p:cNvPr id="246" name="Google Shape;246;p25"/>
          <p:cNvSpPr/>
          <p:nvPr/>
        </p:nvSpPr>
        <p:spPr>
          <a:xfrm>
            <a:off x="3238500" y="1409700"/>
            <a:ext cx="8343900" cy="362100"/>
          </a:xfrm>
          <a:custGeom>
            <a:rect b="b" l="l" r="r" t="t"/>
            <a:pathLst>
              <a:path extrusionOk="0" h="120000" w="120000">
                <a:moveTo>
                  <a:pt x="0" y="50526"/>
                </a:moveTo>
                <a:cubicBezTo>
                  <a:pt x="0" y="22611"/>
                  <a:pt x="981" y="0"/>
                  <a:pt x="2192" y="0"/>
                </a:cubicBezTo>
                <a:lnTo>
                  <a:pt x="117808" y="0"/>
                </a:lnTo>
                <a:cubicBezTo>
                  <a:pt x="119019" y="0"/>
                  <a:pt x="120000" y="22611"/>
                  <a:pt x="120000" y="50526"/>
                </a:cubicBez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5"/>
          <p:cNvSpPr txBox="1"/>
          <p:nvPr/>
        </p:nvSpPr>
        <p:spPr>
          <a:xfrm>
            <a:off x="609600" y="704850"/>
            <a:ext cx="115824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Campagne de Tests Automatisée (main.cpp)</a:t>
            </a:r>
            <a:endParaRPr/>
          </a:p>
        </p:txBody>
      </p:sp>
      <p:sp>
        <p:nvSpPr>
          <p:cNvPr id="248" name="Google Shape;248;p25"/>
          <p:cNvSpPr/>
          <p:nvPr/>
        </p:nvSpPr>
        <p:spPr>
          <a:xfrm>
            <a:off x="3400425" y="1543050"/>
            <a:ext cx="95400" cy="954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/>
          <p:nvPr/>
        </p:nvSpPr>
        <p:spPr>
          <a:xfrm>
            <a:off x="3552825" y="1543050"/>
            <a:ext cx="95400" cy="95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/>
          <p:nvPr/>
        </p:nvSpPr>
        <p:spPr>
          <a:xfrm>
            <a:off x="3705225" y="1543050"/>
            <a:ext cx="95400" cy="95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5"/>
          <p:cNvSpPr txBox="1"/>
          <p:nvPr/>
        </p:nvSpPr>
        <p:spPr>
          <a:xfrm>
            <a:off x="3952875" y="1504950"/>
            <a:ext cx="285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94A3B8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main.cpp</a:t>
            </a:r>
            <a:endParaRPr b="0" sz="950">
              <a:solidFill>
                <a:srgbClr val="94A3B8"/>
              </a:solidFill>
              <a:latin typeface="JetBrains Mono Medium"/>
              <a:ea typeface="JetBrains Mono Medium"/>
              <a:cs typeface="JetBrains Mono Medium"/>
              <a:sym typeface="JetBrains Mono Medium"/>
            </a:endParaRPr>
          </a:p>
        </p:txBody>
      </p:sp>
      <p:sp>
        <p:nvSpPr>
          <p:cNvPr id="252" name="Google Shape;252;p25"/>
          <p:cNvSpPr txBox="1"/>
          <p:nvPr/>
        </p:nvSpPr>
        <p:spPr>
          <a:xfrm>
            <a:off x="3467100" y="1924050"/>
            <a:ext cx="7886700" cy="197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F59E0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main.cpp : Orchestration via la macro RUN_SIMULATION</a:t>
            </a:r>
            <a:endParaRPr b="0" sz="1000">
              <a:solidFill>
                <a:srgbClr val="F59E0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Material</a:t>
            </a:r>
            <a:r>
              <a:rPr b="0"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cuivre(</a:t>
            </a:r>
            <a:r>
              <a:rPr b="0" lang="en-US" sz="100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400.0</a:t>
            </a:r>
            <a:r>
              <a:rPr b="0"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lang="en-US" sz="100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8960.0</a:t>
            </a:r>
            <a:r>
              <a:rPr b="0"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lang="en-US" sz="100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385.0</a:t>
            </a:r>
            <a:r>
              <a:rPr b="0"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endParaRPr b="0" sz="1000">
              <a:solidFill>
                <a:srgbClr val="F8FAF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Mesh1D</a:t>
            </a:r>
            <a:r>
              <a:rPr b="0"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meshA1(</a:t>
            </a:r>
            <a:r>
              <a:rPr b="0" lang="en-US" sz="100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1.0</a:t>
            </a:r>
            <a:r>
              <a:rPr b="0"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lang="en-US" sz="100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50</a:t>
            </a:r>
            <a:r>
              <a:rPr b="0"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lang="en-US" sz="100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20.0</a:t>
            </a:r>
            <a:r>
              <a:rPr b="0"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endParaRPr b="0" sz="1000">
              <a:solidFill>
                <a:srgbClr val="F8FAF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DirichletDC</a:t>
            </a:r>
            <a:r>
              <a:rPr b="0"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dir_100_L(</a:t>
            </a:r>
            <a:r>
              <a:rPr b="0" lang="en-US" sz="1000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BoundarySide</a:t>
            </a:r>
            <a:r>
              <a:rPr b="0"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::LEFT, </a:t>
            </a:r>
            <a:r>
              <a:rPr b="0" lang="en-US" sz="100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100.0</a:t>
            </a:r>
            <a:r>
              <a:rPr b="0"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endParaRPr b="0" sz="1000">
              <a:solidFill>
                <a:srgbClr val="F8FAF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DirichletDC</a:t>
            </a:r>
            <a:r>
              <a:rPr b="0"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dir_20_R(</a:t>
            </a:r>
            <a:r>
              <a:rPr b="0" lang="en-US" sz="1000">
                <a:solidFill>
                  <a:srgbClr val="2DD4B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BoundarySide</a:t>
            </a:r>
            <a:r>
              <a:rPr b="0"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::RIGHT, </a:t>
            </a:r>
            <a:r>
              <a:rPr b="0" lang="en-US" sz="100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20.0</a:t>
            </a:r>
            <a:r>
              <a:rPr b="0"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endParaRPr b="0" sz="1000">
              <a:solidFill>
                <a:srgbClr val="F8FAF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60A5F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RUN_SIMULATION</a:t>
            </a:r>
            <a:r>
              <a:rPr b="0"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lang="en-US" sz="1000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"testA_cuivre.csv"</a:t>
            </a:r>
            <a:r>
              <a:rPr b="0"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meshA1, cuivre,</a:t>
            </a:r>
            <a:endParaRPr b="0" sz="1000">
              <a:solidFill>
                <a:srgbClr val="F8FAF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dir_100_L, dir_20_R,</a:t>
            </a:r>
            <a:endParaRPr b="0" sz="1000">
              <a:solidFill>
                <a:srgbClr val="F8FAF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50.0</a:t>
            </a:r>
            <a:r>
              <a:rPr b="0"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lang="en-US" sz="100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5000.0</a:t>
            </a:r>
            <a:r>
              <a:rPr b="0"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</a:t>
            </a:r>
            <a:r>
              <a:rPr b="0" lang="en-US" sz="1000">
                <a:solidFill>
                  <a:srgbClr val="FB92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r>
              <a:rPr b="0" lang="en-US" sz="1000">
                <a:solidFill>
                  <a:srgbClr val="F8FA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);</a:t>
            </a:r>
            <a:endParaRPr b="0" sz="1000">
              <a:solidFill>
                <a:srgbClr val="F8FAF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53" name="Google Shape;253;p25"/>
          <p:cNvSpPr txBox="1"/>
          <p:nvPr/>
        </p:nvSpPr>
        <p:spPr>
          <a:xfrm>
            <a:off x="781050" y="1562100"/>
            <a:ext cx="20385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rPr>
              <a:t>Test A : Matériaux</a:t>
            </a:r>
            <a:endParaRPr b="1" sz="1350">
              <a:solidFill>
                <a:srgbClr val="1D4ED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4" name="Google Shape;254;p25"/>
          <p:cNvSpPr txBox="1"/>
          <p:nvPr/>
        </p:nvSpPr>
        <p:spPr>
          <a:xfrm>
            <a:off x="781050" y="1885950"/>
            <a:ext cx="20385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Comparaison Cuivre, Inox et Béton.</a:t>
            </a:r>
            <a:endParaRPr b="0" sz="11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5" name="Google Shape;255;p25"/>
          <p:cNvSpPr txBox="1"/>
          <p:nvPr/>
        </p:nvSpPr>
        <p:spPr>
          <a:xfrm>
            <a:off x="781050" y="3162300"/>
            <a:ext cx="20385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rPr>
              <a:t>Test B : Accumulation</a:t>
            </a:r>
            <a:endParaRPr b="1" sz="1350">
              <a:solidFill>
                <a:srgbClr val="1D4ED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Google Shape;256;p25"/>
          <p:cNvSpPr txBox="1"/>
          <p:nvPr/>
        </p:nvSpPr>
        <p:spPr>
          <a:xfrm>
            <a:off x="781050" y="3486150"/>
            <a:ext cx="20385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Bord droit isolé Neumann nul.</a:t>
            </a:r>
            <a:endParaRPr b="0" sz="11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Google Shape;257;p25"/>
          <p:cNvSpPr txBox="1"/>
          <p:nvPr/>
        </p:nvSpPr>
        <p:spPr>
          <a:xfrm>
            <a:off x="781050" y="4762500"/>
            <a:ext cx="20385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D4ED8"/>
                </a:solidFill>
                <a:latin typeface="Inter"/>
                <a:ea typeface="Inter"/>
                <a:cs typeface="Inter"/>
                <a:sym typeface="Inter"/>
              </a:rPr>
              <a:t>Test C &amp; D : Flux</a:t>
            </a:r>
            <a:endParaRPr b="1" sz="1350">
              <a:solidFill>
                <a:srgbClr val="1D4ED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" name="Google Shape;258;p25"/>
          <p:cNvSpPr txBox="1"/>
          <p:nvPr/>
        </p:nvSpPr>
        <p:spPr>
          <a:xfrm>
            <a:off x="781050" y="5086350"/>
            <a:ext cx="20385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Refroidissement et injection 5000 W/m².</a:t>
            </a:r>
            <a:endParaRPr b="0" sz="11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6"/>
          <p:cNvSpPr/>
          <p:nvPr/>
        </p:nvSpPr>
        <p:spPr>
          <a:xfrm>
            <a:off x="609600" y="3057525"/>
            <a:ext cx="3479750" cy="1657350"/>
          </a:xfrm>
          <a:prstGeom prst="roundRect">
            <a:avLst>
              <a:gd fmla="val 689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6"/>
          <p:cNvSpPr/>
          <p:nvPr/>
        </p:nvSpPr>
        <p:spPr>
          <a:xfrm>
            <a:off x="4356050" y="3057525"/>
            <a:ext cx="3479750" cy="1657350"/>
          </a:xfrm>
          <a:prstGeom prst="roundRect">
            <a:avLst>
              <a:gd fmla="val 689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6"/>
          <p:cNvSpPr/>
          <p:nvPr/>
        </p:nvSpPr>
        <p:spPr>
          <a:xfrm>
            <a:off x="8102500" y="2943225"/>
            <a:ext cx="3479750" cy="1885950"/>
          </a:xfrm>
          <a:prstGeom prst="roundRect">
            <a:avLst>
              <a:gd fmla="val 60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6" name="Google Shape;26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36232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0850" y="336232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07300" y="3248025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 • QUALITÉ LOGICIELLE &amp; ORGANISATION</a:t>
            </a:r>
            <a:endParaRPr/>
          </a:p>
        </p:txBody>
      </p:sp>
      <p:sp>
        <p:nvSpPr>
          <p:cNvPr id="270" name="Google Shape;270;p26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Bilan Technique et Travail en Binôme</a:t>
            </a:r>
            <a:endParaRPr/>
          </a:p>
        </p:txBody>
      </p:sp>
      <p:sp>
        <p:nvSpPr>
          <p:cNvPr id="271" name="Google Shape;271;p26"/>
          <p:cNvSpPr txBox="1"/>
          <p:nvPr/>
        </p:nvSpPr>
        <p:spPr>
          <a:xfrm>
            <a:off x="914400" y="3819525"/>
            <a:ext cx="376707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Robustesse C++</a:t>
            </a:r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914400" y="4181475"/>
            <a:ext cx="35876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Zéro fuite mémoire via RAII.</a:t>
            </a:r>
            <a:endParaRPr/>
          </a:p>
        </p:txBody>
      </p:sp>
      <p:sp>
        <p:nvSpPr>
          <p:cNvPr id="273" name="Google Shape;273;p26"/>
          <p:cNvSpPr txBox="1"/>
          <p:nvPr/>
        </p:nvSpPr>
        <p:spPr>
          <a:xfrm>
            <a:off x="4660850" y="3819525"/>
            <a:ext cx="376707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Extensibilité Native</a:t>
            </a:r>
            <a:endParaRPr/>
          </a:p>
        </p:txBody>
      </p:sp>
      <p:sp>
        <p:nvSpPr>
          <p:cNvPr id="274" name="Google Shape;274;p26"/>
          <p:cNvSpPr txBox="1"/>
          <p:nvPr/>
        </p:nvSpPr>
        <p:spPr>
          <a:xfrm>
            <a:off x="4660850" y="4181475"/>
            <a:ext cx="35876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Prêt pour Crank-Nicolson ou 2D.</a:t>
            </a:r>
            <a:endParaRPr/>
          </a:p>
        </p:txBody>
      </p:sp>
      <p:sp>
        <p:nvSpPr>
          <p:cNvPr id="275" name="Google Shape;275;p26"/>
          <p:cNvSpPr txBox="1"/>
          <p:nvPr/>
        </p:nvSpPr>
        <p:spPr>
          <a:xfrm>
            <a:off x="8407300" y="3705225"/>
            <a:ext cx="376707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Synergie Binôme</a:t>
            </a:r>
            <a:endParaRPr/>
          </a:p>
        </p:txBody>
      </p:sp>
      <p:sp>
        <p:nvSpPr>
          <p:cNvPr id="276" name="Google Shape;276;p26"/>
          <p:cNvSpPr txBox="1"/>
          <p:nvPr/>
        </p:nvSpPr>
        <p:spPr>
          <a:xfrm>
            <a:off x="8407300" y="4067175"/>
            <a:ext cx="296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Développement parallèle par contrats d'interfaces.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27"/>
          <p:cNvPicPr preferRelativeResize="0"/>
          <p:nvPr/>
        </p:nvPicPr>
        <p:blipFill rotWithShape="1">
          <a:blip r:embed="rId4">
            <a:alphaModFix/>
          </a:blip>
          <a:srcRect b="7848" l="0" r="0" t="7856"/>
          <a:stretch/>
        </p:blipFill>
        <p:spPr>
          <a:xfrm>
            <a:off x="5448300" y="1352550"/>
            <a:ext cx="6134100" cy="501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7"/>
          <p:cNvPicPr preferRelativeResize="0"/>
          <p:nvPr/>
        </p:nvPicPr>
        <p:blipFill rotWithShape="1">
          <a:blip r:embed="rId5">
            <a:alphaModFix/>
          </a:blip>
          <a:srcRect b="8389" l="0" r="0" t="8389"/>
          <a:stretch/>
        </p:blipFill>
        <p:spPr>
          <a:xfrm>
            <a:off x="5638800" y="1543050"/>
            <a:ext cx="5753100" cy="462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7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0284C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010 • RESULTATS</a:t>
            </a:r>
            <a:endParaRPr b="0" sz="1050">
              <a:solidFill>
                <a:srgbClr val="0284C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84" name="Google Shape;284;p27"/>
          <p:cNvSpPr txBox="1"/>
          <p:nvPr/>
        </p:nvSpPr>
        <p:spPr>
          <a:xfrm>
            <a:off x="609600" y="704850"/>
            <a:ext cx="11582400" cy="41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Test D : Injection continue de flux</a:t>
            </a:r>
            <a:endParaRPr b="1" sz="2700">
              <a:solidFill>
                <a:srgbClr val="0F172A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285" name="Google Shape;285;p27"/>
          <p:cNvGrpSpPr/>
          <p:nvPr/>
        </p:nvGrpSpPr>
        <p:grpSpPr>
          <a:xfrm>
            <a:off x="609600" y="1352550"/>
            <a:ext cx="4533900" cy="1086000"/>
            <a:chOff x="0" y="0"/>
            <a:chExt cx="4533900" cy="1086000"/>
          </a:xfrm>
        </p:grpSpPr>
        <p:sp>
          <p:nvSpPr>
            <p:cNvPr id="286" name="Google Shape;286;p27"/>
            <p:cNvSpPr/>
            <p:nvPr/>
          </p:nvSpPr>
          <p:spPr>
            <a:xfrm>
              <a:off x="0" y="0"/>
              <a:ext cx="4533900" cy="1086000"/>
            </a:xfrm>
            <a:prstGeom prst="roundRect">
              <a:avLst>
                <a:gd fmla="val 1052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7"/>
            <p:cNvSpPr/>
            <p:nvPr/>
          </p:nvSpPr>
          <p:spPr>
            <a:xfrm>
              <a:off x="0" y="0"/>
              <a:ext cx="38100" cy="10860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7"/>
            <p:cNvSpPr txBox="1"/>
            <p:nvPr/>
          </p:nvSpPr>
          <p:spPr>
            <a:xfrm>
              <a:off x="228600" y="0"/>
              <a:ext cx="4076700" cy="10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Bord gauche</a:t>
              </a:r>
              <a:endParaRPr b="1" sz="15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Flux constant </a:t>
              </a:r>
              <a:r>
                <a:rPr b="0" lang="en-US" sz="1300">
                  <a:solidFill>
                    <a:srgbClr val="0284C7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φ = 5000 W·m⁻²</a:t>
              </a:r>
              <a:endParaRPr sz="13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89" name="Google Shape;289;p27"/>
          <p:cNvGrpSpPr/>
          <p:nvPr/>
        </p:nvGrpSpPr>
        <p:grpSpPr>
          <a:xfrm>
            <a:off x="609600" y="2628900"/>
            <a:ext cx="4533900" cy="1086000"/>
            <a:chOff x="0" y="0"/>
            <a:chExt cx="4533900" cy="1086000"/>
          </a:xfrm>
        </p:grpSpPr>
        <p:sp>
          <p:nvSpPr>
            <p:cNvPr id="290" name="Google Shape;290;p27"/>
            <p:cNvSpPr/>
            <p:nvPr/>
          </p:nvSpPr>
          <p:spPr>
            <a:xfrm>
              <a:off x="0" y="0"/>
              <a:ext cx="4533900" cy="1086000"/>
            </a:xfrm>
            <a:prstGeom prst="roundRect">
              <a:avLst>
                <a:gd fmla="val 1052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7"/>
            <p:cNvSpPr/>
            <p:nvPr/>
          </p:nvSpPr>
          <p:spPr>
            <a:xfrm>
              <a:off x="0" y="0"/>
              <a:ext cx="38100" cy="1086000"/>
            </a:xfrm>
            <a:prstGeom prst="roundRect">
              <a:avLst>
                <a:gd fmla="val 50000" name="adj"/>
              </a:avLst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7"/>
            <p:cNvSpPr txBox="1"/>
            <p:nvPr/>
          </p:nvSpPr>
          <p:spPr>
            <a:xfrm>
              <a:off x="228600" y="0"/>
              <a:ext cx="4076700" cy="10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Bord droit</a:t>
              </a:r>
              <a:endParaRPr b="1" sz="15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Température maintenue à </a:t>
              </a:r>
              <a:r>
                <a:rPr b="0" lang="en-US" sz="1300">
                  <a:solidFill>
                    <a:srgbClr val="0F172A"/>
                  </a:solidFill>
                  <a:latin typeface="JetBrains Mono SemiBold"/>
                  <a:ea typeface="JetBrains Mono SemiBold"/>
                  <a:cs typeface="JetBrains Mono SemiBold"/>
                  <a:sym typeface="JetBrains Mono SemiBold"/>
                </a:rPr>
                <a:t>20 °C</a:t>
              </a:r>
              <a:endParaRPr sz="13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93" name="Google Shape;293;p27"/>
          <p:cNvGrpSpPr/>
          <p:nvPr/>
        </p:nvGrpSpPr>
        <p:grpSpPr>
          <a:xfrm>
            <a:off x="609600" y="3905250"/>
            <a:ext cx="4533900" cy="1086000"/>
            <a:chOff x="0" y="0"/>
            <a:chExt cx="4533900" cy="1086000"/>
          </a:xfrm>
        </p:grpSpPr>
        <p:sp>
          <p:nvSpPr>
            <p:cNvPr id="294" name="Google Shape;294;p27"/>
            <p:cNvSpPr/>
            <p:nvPr/>
          </p:nvSpPr>
          <p:spPr>
            <a:xfrm>
              <a:off x="0" y="0"/>
              <a:ext cx="4533900" cy="1086000"/>
            </a:xfrm>
            <a:prstGeom prst="roundRect">
              <a:avLst>
                <a:gd fmla="val 1052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7"/>
            <p:cNvSpPr/>
            <p:nvPr/>
          </p:nvSpPr>
          <p:spPr>
            <a:xfrm>
              <a:off x="0" y="0"/>
              <a:ext cx="38100" cy="1086000"/>
            </a:xfrm>
            <a:prstGeom prst="roundRect">
              <a:avLst>
                <a:gd fmla="val 50000" name="adj"/>
              </a:avLst>
            </a:prstGeom>
            <a:solidFill>
              <a:srgbClr val="EA580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7"/>
            <p:cNvSpPr txBox="1"/>
            <p:nvPr/>
          </p:nvSpPr>
          <p:spPr>
            <a:xfrm>
              <a:off x="228600" y="0"/>
              <a:ext cx="4076700" cy="10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Inox </a:t>
              </a:r>
              <a:r>
                <a:rPr b="0" lang="en-US" sz="1200">
                  <a:solidFill>
                    <a:srgbClr val="64748B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(k = 15 W·m⁻¹·K⁻¹)</a:t>
              </a:r>
              <a:endParaRPr b="1" sz="15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Accumulation thermique </a:t>
              </a:r>
              <a:r>
                <a:rPr b="1" lang="en-US" sz="1300">
                  <a:solidFill>
                    <a:srgbClr val="EA580C"/>
                  </a:solidFill>
                  <a:latin typeface="DM Sans"/>
                  <a:ea typeface="DM Sans"/>
                  <a:cs typeface="DM Sans"/>
                  <a:sym typeface="DM Sans"/>
                </a:rPr>
                <a:t>&gt; 2500 °C</a:t>
              </a:r>
              <a:endParaRPr sz="13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97" name="Google Shape;297;p27"/>
          <p:cNvGrpSpPr/>
          <p:nvPr/>
        </p:nvGrpSpPr>
        <p:grpSpPr>
          <a:xfrm>
            <a:off x="609600" y="5181600"/>
            <a:ext cx="4533900" cy="1086000"/>
            <a:chOff x="0" y="0"/>
            <a:chExt cx="4533900" cy="1086000"/>
          </a:xfrm>
        </p:grpSpPr>
        <p:sp>
          <p:nvSpPr>
            <p:cNvPr id="298" name="Google Shape;298;p27"/>
            <p:cNvSpPr/>
            <p:nvPr/>
          </p:nvSpPr>
          <p:spPr>
            <a:xfrm>
              <a:off x="0" y="0"/>
              <a:ext cx="4533900" cy="1086000"/>
            </a:xfrm>
            <a:prstGeom prst="roundRect">
              <a:avLst>
                <a:gd fmla="val 1052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7"/>
            <p:cNvSpPr/>
            <p:nvPr/>
          </p:nvSpPr>
          <p:spPr>
            <a:xfrm>
              <a:off x="0" y="0"/>
              <a:ext cx="38100" cy="10860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7"/>
            <p:cNvSpPr txBox="1"/>
            <p:nvPr/>
          </p:nvSpPr>
          <p:spPr>
            <a:xfrm>
              <a:off x="228600" y="0"/>
              <a:ext cx="4076700" cy="10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Régime permanent</a:t>
              </a:r>
              <a:endParaRPr b="1" sz="150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Profil linéaire conforme à la loi de Fourier</a:t>
              </a:r>
              <a:endParaRPr sz="13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pic>
        <p:nvPicPr>
          <p:cNvPr id="301" name="Google Shape;301;p27" title="graphique_Test_D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38800" y="1321075"/>
            <a:ext cx="5943598" cy="462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8"/>
          <p:cNvSpPr/>
          <p:nvPr/>
        </p:nvSpPr>
        <p:spPr>
          <a:xfrm>
            <a:off x="5791200" y="4210050"/>
            <a:ext cx="6096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8"/>
          <p:cNvSpPr txBox="1"/>
          <p:nvPr/>
        </p:nvSpPr>
        <p:spPr>
          <a:xfrm>
            <a:off x="3595687" y="2095500"/>
            <a:ext cx="5000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FIN DE LA PRÉSENTATION • THERMIQUE_SIM.EXE</a:t>
            </a:r>
            <a:endParaRPr/>
          </a:p>
        </p:txBody>
      </p:sp>
      <p:sp>
        <p:nvSpPr>
          <p:cNvPr id="308" name="Google Shape;308;p28"/>
          <p:cNvSpPr txBox="1"/>
          <p:nvPr/>
        </p:nvSpPr>
        <p:spPr>
          <a:xfrm>
            <a:off x="2007989" y="2447925"/>
            <a:ext cx="8175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Merci de votre attention</a:t>
            </a:r>
            <a:endParaRPr/>
          </a:p>
        </p:txBody>
      </p:sp>
      <p:sp>
        <p:nvSpPr>
          <p:cNvPr id="309" name="Google Shape;309;p28"/>
          <p:cNvSpPr txBox="1"/>
          <p:nvPr/>
        </p:nvSpPr>
        <p:spPr>
          <a:xfrm>
            <a:off x="2286000" y="3314700"/>
            <a:ext cx="7620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Place aux questions du jury sur l'architecture et l'implémentation C++</a:t>
            </a:r>
            <a:endParaRPr/>
          </a:p>
        </p:txBody>
      </p:sp>
      <p:sp>
        <p:nvSpPr>
          <p:cNvPr id="310" name="Google Shape;310;p28"/>
          <p:cNvSpPr txBox="1"/>
          <p:nvPr/>
        </p:nvSpPr>
        <p:spPr>
          <a:xfrm>
            <a:off x="4191000" y="4514850"/>
            <a:ext cx="3810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James Duburcq &amp; Orion Routhier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